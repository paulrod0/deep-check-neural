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88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Deep-Check</a:t>
            </a:r>
            <a:pPr indent="0" marL="0">
              <a:buNone/>
            </a:pPr>
            <a:r>
              <a:rPr lang="en-US" sz="5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identity.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compromising data.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  —  March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4773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HIUM Solutions SL  |  Andalucia, Spain  |  pablo@hiumsolutions.com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fraud is a $52B crisis.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$52B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global cost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identity fraud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89120" y="1371600"/>
            <a:ext cx="4389120" cy="77724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389120" y="1371600"/>
            <a:ext cx="54864" cy="777240"/>
          </a:xfrm>
          <a:prstGeom prst="rect">
            <a:avLst/>
          </a:prstGeom>
          <a:solidFill>
            <a:srgbClr val="FF4444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14447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dependency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7373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Biometric data sent to third-party servers creates single points of failure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2331720"/>
            <a:ext cx="4389120" cy="77724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9120" y="2331720"/>
            <a:ext cx="54864" cy="777240"/>
          </a:xfrm>
          <a:prstGeom prst="rect">
            <a:avLst/>
          </a:prstGeom>
          <a:solidFill>
            <a:srgbClr val="F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24048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cost per verification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63440" y="2697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Onfido charges $2-5 per check, making scale expensive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0" y="3291840"/>
            <a:ext cx="4389120" cy="77724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9120" y="3291840"/>
            <a:ext cx="54864" cy="777240"/>
          </a:xfrm>
          <a:prstGeom prst="rect">
            <a:avLst/>
          </a:prstGeom>
          <a:solidFill>
            <a:srgbClr val="F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33649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risk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663440" y="3657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biometric databases are prime targets for breaches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Deep-Check: Privacy-first verification.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914400"/>
          </a:xfrm>
          <a:prstGeom prst="rect">
            <a:avLst/>
          </a:prstGeom>
          <a:solidFill>
            <a:srgbClr val="0A2A1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46304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browser-side inference. Zero biometric data sent to any server.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2560320" cy="86868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606040"/>
            <a:ext cx="54864" cy="86868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97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rPPG Analysis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flow detection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606040"/>
            <a:ext cx="2560320" cy="86868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2606040"/>
            <a:ext cx="54864" cy="86868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2697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FACS Coding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Micro-expressions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606040"/>
            <a:ext cx="2560320" cy="86868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2606040"/>
            <a:ext cx="54864" cy="86868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697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EfficientNet-B4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Pixel-level deepfake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2560320" cy="86868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657600"/>
            <a:ext cx="54864" cy="86868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Blendshape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114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 blend detection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3657600"/>
            <a:ext cx="2560320" cy="86868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383280" y="3657600"/>
            <a:ext cx="54864" cy="86868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5" name="Text 23"/>
          <p:cNvSpPr/>
          <p:nvPr/>
        </p:nvSpPr>
        <p:spPr>
          <a:xfrm>
            <a:off x="356616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Keystroke Biometrics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66160" y="4114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Typing pattern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657600"/>
            <a:ext cx="2560320" cy="86868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17920" y="3657600"/>
            <a:ext cx="54864" cy="86868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Forensics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0" y="4114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 + tampering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Veritas Ensemble Engine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Bayesian logit-space fusion of 6 independent detection layers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920240" cy="1463040"/>
          </a:xfrm>
          <a:prstGeom prst="rect">
            <a:avLst/>
          </a:prstGeom>
          <a:solidFill>
            <a:srgbClr val="333333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965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+ Document + Keystrokes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68880" y="22860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FF88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697480" y="1828800"/>
            <a:ext cx="1920240" cy="146304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834640" y="1965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AI Layers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rPPG + FACS + CNN + EfficientNet + Keystroke + Doc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17720" y="22860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FF88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46320" y="1828800"/>
            <a:ext cx="1920240" cy="1463040"/>
          </a:xfrm>
          <a:prstGeom prst="rect">
            <a:avLst/>
          </a:prstGeom>
          <a:solidFill>
            <a:srgbClr val="0A2A1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1965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Veritas Engine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8348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Bayesian logit fusion + calibration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66560" y="22860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FF88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995160" y="1828800"/>
            <a:ext cx="1920240" cy="146304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132320" y="19659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Score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13232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0-100% confidence + PDF certificate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36576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ONNX Runtime Web (WASM)  |  MediaPipe  |  WebAssembly  |  Next.js  |  Vercel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4114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18.6M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8640" y="4480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 (v3)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97480" y="4114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70MB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97480" y="4480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ONNX Model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4114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&lt;200ms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846320" y="4480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time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95160" y="4114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995160" y="4480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calls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metrics. Real inference. Zero simulation.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920240" cy="118872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417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0.9999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1488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Onfido ~0.95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7480" y="1325880"/>
            <a:ext cx="1920240" cy="118872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97480" y="1417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697480" y="19202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97480" y="21488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Onfido ~2-5%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846320" y="1325880"/>
            <a:ext cx="1920240" cy="118872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1417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0.005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846320" y="19202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1488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Excellent calibration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95160" y="1325880"/>
            <a:ext cx="1920240" cy="118872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95160" y="1417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31.95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995160" y="19202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d-prime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95160" y="21488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separation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Robustness Under Degradation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63240"/>
          <a:ext cx="5029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8288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FF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Degradation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FF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FF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Original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JPEG Q10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JPEG Q30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Blur r=5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Grayscale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Resize 25%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CCC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5943600" y="3200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30107-3 Aligned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94360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FATE PAD SDK Ready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943600" y="3840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Kaggle datasets (155K images)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94360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data leakage verified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94360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95% CI computed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$15.8B and growing 14.2% CAGR.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$15.8B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Addressable Market (2026)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4023360" cy="64008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371600"/>
            <a:ext cx="54864" cy="64008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4447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/ Banking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0" y="14447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$6.2B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17190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39% of TAM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2194560"/>
            <a:ext cx="4023360" cy="64008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2194560"/>
            <a:ext cx="54864" cy="64008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22677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Proctoring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0" y="22677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$3.4B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2542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22% of TAM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3017520"/>
            <a:ext cx="4023360" cy="64008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017520"/>
            <a:ext cx="54864" cy="64008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30906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/ Remote Hiring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0" y="309067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$3.1B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0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of TAM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3840480"/>
            <a:ext cx="4023360" cy="64008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3840480"/>
            <a:ext cx="54864" cy="64008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0" y="39136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 / Web3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0" y="39136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$3.1B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0" y="41879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19% of TAM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pricing. Paddle payments live.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965960" cy="3200400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645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9659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€</a:t>
            </a:r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25146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forever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8346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sessions/mo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forensics/mo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1280160"/>
            <a:ext cx="1965960" cy="3200400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788920" y="1645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88920" y="19659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€</a:t>
            </a:r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29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88920" y="25146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/month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88920" y="28346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sessions/mo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forensics/mo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certificates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1280160"/>
            <a:ext cx="1965960" cy="3200400"/>
          </a:xfrm>
          <a:prstGeom prst="rect">
            <a:avLst/>
          </a:prstGeom>
          <a:solidFill>
            <a:srgbClr val="0A2A15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280160"/>
            <a:ext cx="1965960" cy="25603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129844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POPULAR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83480" y="1645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83480" y="19659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€</a:t>
            </a:r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79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983480" y="25146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/month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83480" y="28346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sessions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forensics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+ Webhooks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040880" y="1280160"/>
            <a:ext cx="1965960" cy="3200400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178040" y="1645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78040" y="19659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Custom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78040" y="25146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78040" y="28346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On-premise deploy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+ dedicated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integration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product. Published research. SDKs built.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347472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38988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product at deep-check-two.vercel.app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" y="1435608"/>
            <a:ext cx="201168" cy="201168"/>
          </a:xfrm>
          <a:prstGeom prst="ellipse">
            <a:avLst/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783080"/>
            <a:ext cx="8046720" cy="34747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80136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published on Zenodo with DOI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" y="1847088"/>
            <a:ext cx="201168" cy="201168"/>
          </a:xfrm>
          <a:prstGeom prst="ellipse">
            <a:avLst/>
          </a:prstGeom>
          <a:solidFill>
            <a:srgbClr val="00FF88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194560"/>
            <a:ext cx="8046720" cy="347472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2128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FATE PAD + FRTE 1:1 SDKs built (C++)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" y="2258568"/>
            <a:ext cx="201168" cy="201168"/>
          </a:xfrm>
          <a:prstGeom prst="ellipse">
            <a:avLst/>
          </a:prstGeom>
          <a:solidFill>
            <a:srgbClr val="00FF88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606040"/>
            <a:ext cx="8046720" cy="34747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62432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 for AI agent integration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" y="2670048"/>
            <a:ext cx="201168" cy="201168"/>
          </a:xfrm>
          <a:prstGeom prst="ellipse">
            <a:avLst/>
          </a:prstGeom>
          <a:solidFill>
            <a:srgbClr val="00FF88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017520"/>
            <a:ext cx="8046720" cy="347472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03580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BSL license protecting IP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" y="3081528"/>
            <a:ext cx="201168" cy="201168"/>
          </a:xfrm>
          <a:prstGeom prst="ellipse">
            <a:avLst/>
          </a:prstGeom>
          <a:solidFill>
            <a:srgbClr val="00FF88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429000"/>
            <a:ext cx="8046720" cy="34747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44728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Paddle payments integrated (live checkout)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" y="3493008"/>
            <a:ext cx="201168" cy="201168"/>
          </a:xfrm>
          <a:prstGeom prst="ellipse">
            <a:avLst/>
          </a:prstGeom>
          <a:solidFill>
            <a:srgbClr val="00FF88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840480"/>
            <a:ext cx="8046720" cy="347472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385876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benchmark completed (ISO 30107-3)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" y="3904488"/>
            <a:ext cx="201168" cy="201168"/>
          </a:xfrm>
          <a:prstGeom prst="ellipse">
            <a:avLst/>
          </a:prstGeom>
          <a:solidFill>
            <a:srgbClr val="00FF88"/>
          </a:solidFill>
          <a:ln/>
        </p:spPr>
      </p:sp>
      <p:sp>
        <p:nvSpPr>
          <p:cNvPr id="26" name="Shape 24"/>
          <p:cNvSpPr/>
          <p:nvPr/>
        </p:nvSpPr>
        <p:spPr>
          <a:xfrm>
            <a:off x="548640" y="4251960"/>
            <a:ext cx="8046720" cy="34747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42702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model training (ConvNeXt-Base, 90M params, 13 datasets)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" y="4315968"/>
            <a:ext cx="201168" cy="201168"/>
          </a:xfrm>
          <a:prstGeom prst="ellipse">
            <a:avLst/>
          </a:prstGeom>
          <a:solidFill>
            <a:srgbClr val="00FF88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DEEP-CHECK WINS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structural advantages.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8046720" cy="5943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325880"/>
            <a:ext cx="54864" cy="5943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435608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1371600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Privacy-by-design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25880" y="161848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Browser-side inference = GDPR native. No biometric data stored or transmitted.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039112"/>
            <a:ext cx="8046720" cy="5943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039112"/>
            <a:ext cx="54864" cy="5943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2148840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2084832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ensemble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25880" y="2331720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 use 1-2 detection methods. We use 6 independent layers with Bayesian fusion.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752344"/>
            <a:ext cx="8046720" cy="5943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752344"/>
            <a:ext cx="54864" cy="5943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2862072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862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2798064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architecture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25880" y="3044952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server, REST API, webhooks, ONNX models. No vendor lock-in.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465576"/>
            <a:ext cx="8046720" cy="5943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3465576"/>
            <a:ext cx="54864" cy="5943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3575304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3575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25880" y="3511296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infrastructure cost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25880" y="3758184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run on user's device. No GPU servers needed = €0 per verification.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178808"/>
            <a:ext cx="8046720" cy="5943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4178808"/>
            <a:ext cx="54864" cy="5943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4288536"/>
            <a:ext cx="365760" cy="365760"/>
          </a:xfrm>
          <a:prstGeom prst="ellipse">
            <a:avLst/>
          </a:prstGeom>
          <a:solidFill>
            <a:srgbClr val="00FF88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4288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325880" y="422452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90M parameter model (v4)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325880" y="4471416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ConvNeXt-Base trained on 13 datasets with adversarial augmentation. Competitors are black boxes.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by engineers, for engineers.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286000" y="1463040"/>
            <a:ext cx="4572000" cy="256032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0" y="1645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Pablo Lopez Rodriguez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28600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560320" y="251460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HIUM Solutions SL  |  Andalucia, Spain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engineer with expertise in ML/AI,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vision, and privacy-preserving systems.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Deep-Check from concept to production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solo founder — architecture, ML training,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frontend, backend, deployment, and sales.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 to accelerate.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8046720" cy="50292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745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iBeta ISO 30107-3 Certification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0848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liveness detection certification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0" y="1874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€30K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2423160"/>
            <a:ext cx="8046720" cy="50292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468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FATE PAD Submission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Government-grade validation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0" y="2468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€5K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3017520"/>
            <a:ext cx="8046720" cy="50292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0632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Enterprise PoC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327355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with Fintech/Crypto partner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€15K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8046720" cy="50292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576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Engineer (6 months)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386791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model training, add new attack types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0" y="3657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€40K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48640" y="4206240"/>
            <a:ext cx="8046720" cy="50292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251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BD (6 months)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" y="44622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pipeline, partnerships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4251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€30K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804672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4572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~€120K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Deep-Check</a:t>
            </a:r>
            <a:pPr algn="ctr" indent="0" marL="0">
              <a:buNone/>
            </a:pPr>
            <a:r>
              <a:rPr lang="en-US" sz="4800" b="1" dirty="0">
                <a:solidFill>
                  <a:srgbClr val="00FF88"/>
                </a:solidFill>
              </a:rPr>
              <a:t>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build the future of identity verification.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97280" y="2926080"/>
            <a:ext cx="2194560" cy="8229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2999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pablo@hiumsolutions.com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6160" y="2926080"/>
            <a:ext cx="2194560" cy="8229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2999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66160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deep-check-two.vercel.app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35040" y="2926080"/>
            <a:ext cx="2194560" cy="8229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35040" y="2999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35040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github.com/paulrod0/deep-check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4206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HIUM Solutions SL  |  Andalucia, Spain  |  Seed Round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Deep-Check — Investor Deck</dc:title>
  <dc:subject>PptxGenJS Presentation</dc:subject>
  <dc:creator>Pablo Lopez Rodriguez</dc:creator>
  <cp:lastModifiedBy>Pablo Lopez Rodriguez</cp:lastModifiedBy>
  <cp:revision>1</cp:revision>
  <dcterms:created xsi:type="dcterms:W3CDTF">2026-03-24T08:37:24Z</dcterms:created>
  <dcterms:modified xsi:type="dcterms:W3CDTF">2026-03-24T08:37:24Z</dcterms:modified>
</cp:coreProperties>
</file>