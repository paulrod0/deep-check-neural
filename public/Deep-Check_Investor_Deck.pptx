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Deep-Check</a:t>
            </a:r>
            <a:pPr indent="0" marL="0">
              <a:buNone/>
            </a:pPr>
            <a:r>
              <a:rPr lang="en-US" sz="5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identity.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compromising data.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HIUM Solutions SL  |  Andalucia, Spain  |  pablo@hiumsolutions.com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fraud is a $52B crisis.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$52B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global cost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identity fraud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4389120" cy="7772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389120" y="1371600"/>
            <a:ext cx="54864" cy="777240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1444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dependency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737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data sent to third-party servers creates single points of failure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331720"/>
            <a:ext cx="4389120" cy="7772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89120" y="2331720"/>
            <a:ext cx="54864" cy="777240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63440" y="2404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 per verification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Onfido charges $2-5 per check, making scale expensive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3291840"/>
            <a:ext cx="4389120" cy="7772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89120" y="3291840"/>
            <a:ext cx="54864" cy="777240"/>
          </a:xfrm>
          <a:prstGeom prst="rect">
            <a:avLst/>
          </a:prstGeom>
          <a:solidFill>
            <a:srgbClr val="FF444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63440" y="3364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657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biometric databases are prime targets for breaches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Deep-Check: Privacy-first verification.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solidFill>
            <a:srgbClr val="0A2A1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463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browser-side inference. Zero biometric data sent to any server.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560320" cy="8686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2606040"/>
            <a:ext cx="54864" cy="86868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rPPG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flow 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606040"/>
            <a:ext cx="2560320" cy="8686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83280" y="2606040"/>
            <a:ext cx="54864" cy="86868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6616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FACS Coding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Micro-expressions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2560320" cy="8686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54864" cy="86868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Pixel-level deepfake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2560320" cy="8686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3657600"/>
            <a:ext cx="54864" cy="86868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Blendshape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blend detection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3657600"/>
            <a:ext cx="2560320" cy="8686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383280" y="3657600"/>
            <a:ext cx="54864" cy="86868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56616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Keystroke Biometrics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pattern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657600"/>
            <a:ext cx="2560320" cy="8686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217920" y="3657600"/>
            <a:ext cx="54864" cy="86868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Forensics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 + tampering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Ensemble Engine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logit-space fusion of 6 independent detection layers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920240" cy="146304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+ Document + Keystrokes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FF8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97480" y="1828800"/>
            <a:ext cx="1920240" cy="14630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83464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AI Layers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rPPG + FACS + CNN + EfficientNet + Keystroke + Doc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FF8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1828800"/>
            <a:ext cx="1920240" cy="1463040"/>
          </a:xfrm>
          <a:prstGeom prst="rect">
            <a:avLst/>
          </a:prstGeom>
          <a:solidFill>
            <a:srgbClr val="0A2A1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8348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logit fusion + calibration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FF8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995160" y="1828800"/>
            <a:ext cx="1920240" cy="14630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3232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0-100% confidence + PDF certificate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ONNX Runtime Web (WASM)  |  MediaPipe  |  WebAssembly  |  Next.js  |  Vercel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(v3)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70MB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69748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Model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&lt;200ms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4632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time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9516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calls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metrics. Real inference. Zero simulation.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9202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0.9999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Onfido ~0.95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1325880"/>
            <a:ext cx="19202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69748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Onfido ~2-5%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325880"/>
            <a:ext cx="19202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4632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calibration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95160" y="1325880"/>
            <a:ext cx="19202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99516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31.95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9516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d-prime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separation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Under Degradation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8288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F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Degradation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F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F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 Q10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 Q30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Blur r=5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Grayscale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Resize 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9436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30107-3 Aligned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436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FATE PAD SDK Ready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Kaggle datasets (155K images)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436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data leakage verified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94360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95% CI computed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$15.8B and growing 14.2% CAGR.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$15.8B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 (2026)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023360" cy="6400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54880" y="1371600"/>
            <a:ext cx="54864" cy="64008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0" y="1444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/ Banking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14447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$6.2B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719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 of TAM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94560"/>
            <a:ext cx="4023360" cy="6400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54864" cy="64008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0" y="2267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Proctoring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22677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$3.4B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 of TAM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23360" cy="6400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54864" cy="64008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29200" y="3090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/ Remote Hiring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0" y="30906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$3.1B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3649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 TAM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840480"/>
            <a:ext cx="4023360" cy="6400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54880" y="3840480"/>
            <a:ext cx="54864" cy="64008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29200" y="3913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/ Web3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39136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$3.1B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 of TAM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pricing. Paddle payments live.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65960" cy="32004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€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sessions/mo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forensics/mo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280160"/>
            <a:ext cx="1965960" cy="32004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88920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1965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€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2514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sessions/mo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forensics/mo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certificates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280160"/>
            <a:ext cx="1965960" cy="3200400"/>
          </a:xfrm>
          <a:prstGeom prst="rect">
            <a:avLst/>
          </a:prstGeom>
          <a:solidFill>
            <a:srgbClr val="0A2A15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1965960" cy="256032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46320" y="12984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3480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1965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€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79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2514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sessions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forensics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Webhooks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40880" y="1280160"/>
            <a:ext cx="1965960" cy="320040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78040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78040" y="1965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Custom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2514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28346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deploy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+ dedicated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product. Published research. SDKs built.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347472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3898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 at deep-check-two.vercel.app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435608"/>
            <a:ext cx="201168" cy="201168"/>
          </a:xfrm>
          <a:prstGeom prst="ellipse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783080"/>
            <a:ext cx="8046720" cy="347472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18013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published on Zenodo with DOI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" y="1847088"/>
            <a:ext cx="201168" cy="201168"/>
          </a:xfrm>
          <a:prstGeom prst="ellipse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48640" y="2194560"/>
            <a:ext cx="8046720" cy="347472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2128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FATE PAD + FRTE 1:1 SDKs built (C++)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" y="2258568"/>
            <a:ext cx="201168" cy="201168"/>
          </a:xfrm>
          <a:prstGeom prst="ellipse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2606040"/>
            <a:ext cx="8046720" cy="347472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2624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for AI agent integration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" y="2670048"/>
            <a:ext cx="201168" cy="201168"/>
          </a:xfrm>
          <a:prstGeom prst="ellipse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8640" y="3017520"/>
            <a:ext cx="8046720" cy="347472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303580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license protecting IP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" y="3081528"/>
            <a:ext cx="201168" cy="201168"/>
          </a:xfrm>
          <a:prstGeom prst="ellipse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3429000"/>
            <a:ext cx="8046720" cy="347472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34472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 payments integrated (live checkout)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" y="3493008"/>
            <a:ext cx="201168" cy="201168"/>
          </a:xfrm>
          <a:prstGeom prst="ellipse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48640" y="3840480"/>
            <a:ext cx="8046720" cy="347472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4400" y="38587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benchmark completed (ISO 30107-3)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" y="3904488"/>
            <a:ext cx="201168" cy="201168"/>
          </a:xfrm>
          <a:prstGeom prst="ellipse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48640" y="4251960"/>
            <a:ext cx="8046720" cy="347472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4400" y="42702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model training (ConvNeXt-Base, 90M params, 13 datasets)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" y="4315968"/>
            <a:ext cx="201168" cy="201168"/>
          </a:xfrm>
          <a:prstGeom prst="ellipse">
            <a:avLst/>
          </a:prstGeom>
          <a:solidFill>
            <a:srgbClr val="00FF88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DEEP-CHECK WINS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structural advantages.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59436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325880"/>
            <a:ext cx="54864" cy="59436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435608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37160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Privacy-by-design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1848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Browser-side inference = GDPR native. No biometric data stored or transmitted.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039112"/>
            <a:ext cx="8046720" cy="59436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48640" y="2039112"/>
            <a:ext cx="54864" cy="59436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214884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08483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ensemble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33172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use 1-2 detection methods. We use 6 independent layers with Bayesian fusion.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52344"/>
            <a:ext cx="8046720" cy="59436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48640" y="2752344"/>
            <a:ext cx="54864" cy="59436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2862072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279806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architecture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04495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server, REST API, webhooks, ONNX models. No vendor lock-in.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465576"/>
            <a:ext cx="8046720" cy="59436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48640" y="3465576"/>
            <a:ext cx="54864" cy="59436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77240" y="3575304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724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351129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infrastructure cost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375818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run on user's device. No GPU servers needed = €0 per verification.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178808"/>
            <a:ext cx="8046720" cy="59436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48640" y="4178808"/>
            <a:ext cx="54864" cy="59436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77240" y="4288536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7724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25880" y="422452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90M parameter model (v4)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25880" y="447141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ConvNeXt-Base trained on 13 datasets with adversarial augmentation. Competitors are black boxes.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engineers, for engineers.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0" y="1463040"/>
            <a:ext cx="4572000" cy="25603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28600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Pablo Lopez Rodriguez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25146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HIUM Solutions SL  |  Andalucia, Spain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engineer with expertise in ML/AI,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vision, and privacy-preserving systems.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Deep-Check from concept to production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solo founder — architecture, ML training,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backend, deployment, and sales.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Deep-Check</a:t>
            </a:r>
            <a:pPr algn="ctr" indent="0" marL="0">
              <a:buNone/>
            </a:pPr>
            <a:r>
              <a:rPr lang="en-US" sz="4800" b="1" dirty="0">
                <a:solidFill>
                  <a:srgbClr val="00FF88"/>
                </a:solidFill>
              </a:rPr>
              <a:t>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future of identity verification.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2926080"/>
            <a:ext cx="2194560" cy="82296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97280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pablo@hiumsolutions.com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2926080"/>
            <a:ext cx="2194560" cy="82296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66160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deep-check-two.vercel.app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926080"/>
            <a:ext cx="2194560" cy="82296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035040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github.com/paulrod0/deep-check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HIUM Solutions SL  |  Andalucia, Spain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Deep-Check — Investor Deck</dc:title>
  <dc:subject>PptxGenJS Presentation</dc:subject>
  <dc:creator>Pablo Lopez Rodriguez</dc:creator>
  <cp:lastModifiedBy>Pablo Lopez Rodriguez</cp:lastModifiedBy>
  <cp:revision>1</cp:revision>
  <dcterms:created xsi:type="dcterms:W3CDTF">2026-03-24T08:37:24Z</dcterms:created>
  <dcterms:modified xsi:type="dcterms:W3CDTF">2026-03-24T08:37:24Z</dcterms:modified>
</cp:coreProperties>
</file>